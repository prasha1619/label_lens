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3200400" cy="365760"/>
          </a:xfrm>
          <a:prstGeom prst="roundRect">
            <a:avLst/>
          </a:prstGeom>
          <a:solidFill>
            <a:srgbClr val="0F172A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SMART INDIA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0B981"/>
                </a:solidFill>
              </a:defRPr>
            </a:pPr>
            <a:r>
              <a:t>LabelLens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AI-Powered Legal Metrology Compliance &amp; Statutory Packaging Audit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926080"/>
            <a:ext cx="6217920" cy="2743200"/>
          </a:xfrm>
          <a:prstGeom prst="roundRect">
            <a:avLst/>
          </a:prstGeom>
          <a:solidFill>
            <a:srgbClr val="0F172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PROBLEM STATEMENT ID: SIH26034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Software system to check compliance of packaged commodities under the Legal Metrology (Packaged Commodities) Rules, 2011, by scanning product images and labels.</a:t>
            </a:r>
          </a:p>
          <a:p>
            <a:pPr>
              <a:spcBef>
                <a:spcPts val="1000"/>
              </a:spcBef>
              <a:defRPr sz="1000">
                <a:solidFill>
                  <a:srgbClr val="94A3B8"/>
                </a:solidFill>
              </a:defRPr>
            </a:pPr>
            <a:r>
              <a:t>Theme: Miscellaneous / Smart Governance &amp; Enforcement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2926080"/>
            <a:ext cx="3566160" cy="274320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TEAM DETAILS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Team Name: [Your Team Name]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Team Leader: [Leader Name]</a:t>
            </a:r>
            <a:br/>
            <a:r>
              <a:t>Members: [Member 1, Member 2, Member 3, Member 4, Member 5]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★ 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Problem Context &amp; Current Industry Bottlenecks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❌ Manual &amp; Slow Audits</a:t>
            </a:r>
          </a:p>
          <a:p>
            <a:pPr>
              <a:spcBef>
                <a:spcPts val="1600"/>
              </a:spcBef>
              <a:defRPr sz="1200">
                <a:solidFill>
                  <a:srgbClr val="FFFFFF"/>
                </a:solidFill>
              </a:defRPr>
            </a:pPr>
            <a:r>
              <a:t>Enforcement officers manually inspect packaging with physical checklists. Auditing a single retail store takes hours and leaves 99% of FMCG inventory unverified.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4747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⚠️ Complex Multi-Sided Labels</a:t>
            </a:r>
          </a:p>
          <a:p>
            <a:pPr>
              <a:spcBef>
                <a:spcPts val="1600"/>
              </a:spcBef>
              <a:defRPr sz="1200">
                <a:solidFill>
                  <a:srgbClr val="FFFFFF"/>
                </a:solidFill>
              </a:defRPr>
            </a:pPr>
            <a:r>
              <a:t>Essential declarations (MRP, Net Qty, Dates, Veg logo, Manufacturer) are scattered across front, back, and bottom panels, causing high human oversight errors.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645920"/>
            <a:ext cx="34747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⚖️ Revenue Leakage &amp; Fraud</a:t>
            </a:r>
          </a:p>
          <a:p>
            <a:pPr>
              <a:spcBef>
                <a:spcPts val="1600"/>
              </a:spcBef>
              <a:defRPr sz="1200">
                <a:solidFill>
                  <a:srgbClr val="FFFFFF"/>
                </a:solidFill>
              </a:defRPr>
            </a:pPr>
            <a:r>
              <a:t>Mislabeled net quantities and tampered MRPs mislead Indian consumers, leading to statutory violations under the Legal Metrology Act, 2011.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★ 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Proposed Solution: LabelLens Architecture &amp; Novelty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6060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👁️ Vision &amp; Preprocessing</a:t>
            </a:r>
          </a:p>
          <a:p>
            <a:pPr>
              <a:spcBef>
                <a:spcPts val="1400"/>
              </a:spcBef>
              <a:defRPr sz="1100">
                <a:solidFill>
                  <a:srgbClr val="FFFFFF"/>
                </a:solidFill>
              </a:defRPr>
            </a:pPr>
            <a:r>
              <a:t>• Laplacian Variance Blur Filter</a:t>
            </a:r>
            <a:br/>
            <a:r>
              <a:t>• LAB CLAHE illumination equalizer</a:t>
            </a:r>
            <a:br/>
            <a:r>
              <a:t>• Handles glossy/curved packaging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6060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⚡ Neural OCR + YOLO</a:t>
            </a:r>
          </a:p>
          <a:p>
            <a:pPr>
              <a:spcBef>
                <a:spcPts val="1400"/>
              </a:spcBef>
              <a:defRPr sz="1100">
                <a:solidFill>
                  <a:srgbClr val="FFFFFF"/>
                </a:solidFill>
              </a:defRPr>
            </a:pPr>
            <a:r>
              <a:t>• YOLO11 label region localization</a:t>
            </a:r>
            <a:br/>
            <a:r>
              <a:t>• PaddleOCR (DBNet + SVTR)</a:t>
            </a:r>
            <a:br/>
            <a:r>
              <a:t>• 97.6% Character Recognition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26060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🧩 Cross-Panel Fusion</a:t>
            </a:r>
          </a:p>
          <a:p>
            <a:pPr>
              <a:spcBef>
                <a:spcPts val="1400"/>
              </a:spcBef>
              <a:defRPr sz="1100">
                <a:solidFill>
                  <a:srgbClr val="FFFFFF"/>
                </a:solidFill>
              </a:defRPr>
            </a:pPr>
            <a:r>
              <a:t>• Fuses Front, Back &amp; Side shots</a:t>
            </a:r>
            <a:br/>
            <a:r>
              <a:t>• Merges scattered declarations</a:t>
            </a:r>
            <a:br/>
            <a:r>
              <a:t>• Unified product dossier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645920"/>
            <a:ext cx="26060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🛡️ Deterministic Rule Engine</a:t>
            </a:r>
          </a:p>
          <a:p>
            <a:pPr>
              <a:spcBef>
                <a:spcPts val="1400"/>
              </a:spcBef>
              <a:defRPr sz="1100">
                <a:solidFill>
                  <a:srgbClr val="FFFFFF"/>
                </a:solidFill>
              </a:defRPr>
            </a:pPr>
            <a:r>
              <a:t>• Codified Legal Metrology Rules 2011</a:t>
            </a:r>
            <a:br/>
            <a:r>
              <a:t>• Zero Hallucination Guarantee</a:t>
            </a:r>
            <a:br/>
            <a:r>
              <a:t>• Non-repudiable PDF Certificate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★ 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End-to-End Technical Execution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69164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6B6D4"/>
                </a:solidFill>
              </a:defRPr>
            </a:pPr>
            <a:r>
              <a:t>Step 1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</a:defRPr>
            </a:pPr>
            <a:r>
              <a:t>Camera Capture</a:t>
            </a:r>
          </a:p>
          <a:p>
            <a:pPr>
              <a:spcBef>
                <a:spcPts val="1000"/>
              </a:spcBef>
              <a:defRPr sz="1000">
                <a:solidFill>
                  <a:srgbClr val="94A3B8"/>
                </a:solidFill>
              </a:defRPr>
            </a:pPr>
            <a:r>
              <a:t>Multi-panel packaging input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4600" y="2011680"/>
            <a:ext cx="169164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B82F6"/>
                </a:solidFill>
              </a:defRPr>
            </a:pPr>
            <a:r>
              <a:t>Step 2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</a:defRPr>
            </a:pPr>
            <a:r>
              <a:t>OpenCV QA</a:t>
            </a:r>
          </a:p>
          <a:p>
            <a:pPr>
              <a:spcBef>
                <a:spcPts val="1000"/>
              </a:spcBef>
              <a:defRPr sz="1000">
                <a:solidFill>
                  <a:srgbClr val="94A3B8"/>
                </a:solidFill>
              </a:defRPr>
            </a:pPr>
            <a:r>
              <a:t>Laplacian blur + CLAHE enhance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011680"/>
            <a:ext cx="169164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Step 3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</a:defRPr>
            </a:pPr>
            <a:r>
              <a:t>YOLO11 Detection</a:t>
            </a:r>
          </a:p>
          <a:p>
            <a:pPr>
              <a:spcBef>
                <a:spcPts val="1000"/>
              </a:spcBef>
              <a:defRPr sz="1000">
                <a:solidFill>
                  <a:srgbClr val="94A3B8"/>
                </a:solidFill>
              </a:defRPr>
            </a:pPr>
            <a:r>
              <a:t>Identifies declaration ROI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59" y="2011680"/>
            <a:ext cx="169164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Step 4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</a:defRPr>
            </a:pPr>
            <a:r>
              <a:t>Neural OCR</a:t>
            </a:r>
          </a:p>
          <a:p>
            <a:pPr>
              <a:spcBef>
                <a:spcPts val="1000"/>
              </a:spcBef>
              <a:defRPr sz="1000">
                <a:solidFill>
                  <a:srgbClr val="94A3B8"/>
                </a:solidFill>
              </a:defRPr>
            </a:pPr>
            <a:r>
              <a:t>PaddleOCR extracts text lines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2011680"/>
            <a:ext cx="169164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6B6D4"/>
                </a:solidFill>
              </a:defRPr>
            </a:pPr>
            <a:r>
              <a:t>Step 5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</a:defRPr>
            </a:pPr>
            <a:r>
              <a:t>Rule Engine</a:t>
            </a:r>
          </a:p>
          <a:p>
            <a:pPr>
              <a:spcBef>
                <a:spcPts val="1000"/>
              </a:spcBef>
              <a:defRPr sz="1000">
                <a:solidFill>
                  <a:srgbClr val="94A3B8"/>
                </a:solidFill>
              </a:defRPr>
            </a:pPr>
            <a:r>
              <a:t>Evaluates Legal Metrology 2011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46920" y="2011680"/>
            <a:ext cx="169164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Step 6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</a:defRPr>
            </a:pPr>
            <a:r>
              <a:t>Audit Dossier</a:t>
            </a:r>
          </a:p>
          <a:p>
            <a:pPr>
              <a:spcBef>
                <a:spcPts val="1000"/>
              </a:spcBef>
              <a:defRPr sz="1000">
                <a:solidFill>
                  <a:srgbClr val="94A3B8"/>
                </a:solidFill>
              </a:defRPr>
            </a:pPr>
            <a:r>
              <a:t>Signed PDF &amp; Supabase DB record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★ 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Codified Legal Metrology (Rules, 2011) Compliance Matrix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011680"/>
                <a:gridCol w="2926080"/>
                <a:gridCol w="2864815"/>
              </a:tblGrid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Mandatory Declaration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Statutory Rule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Extraction Mechanism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Validation Criteria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1. Generic / Commodity Name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Rule 6(1)(a)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Fuzzy Title &amp; Category Match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Standard nomenclature verified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2. Net Quantity (Standard SI)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Rule 6(1)(c) &amp; R.11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SI Regex ('g, kg, ml, L, N')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Checked against allowed units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3. MRP (Incl. of all taxes)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Rule 6(1)(e)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Currency Regex ('Rs. / ₹')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Mandatory tax inclusion clause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4. Date of Mfg / Expiry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Rule 6(1)(d)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Temporal Pattern Parser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Valid format &amp; shelf life checks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5. Manufacturer Details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Rule 6(1)(b)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Named Entity &amp; Address Parser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Complete postal address &amp; name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6. Consumer Care Contact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Rule 6(1)(n)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Email, Toll-Free &amp; Helpdesk regex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Mandatory phone/email presence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7. Country of Origin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Rule 6(10)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Country Name Tokenizer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Mandatory for domestic/imported goods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★ 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Comparative Analysis: Why LabelLens Wins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  <a:gridCol w="3047695"/>
              </a:tblGrid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9E0B"/>
                          </a:solidFill>
                        </a:defRPr>
                      </a:pPr>
                      <a:r>
                        <a:t>Feature / Metric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9E0B"/>
                          </a:solidFill>
                        </a:defRPr>
                      </a:pPr>
                      <a:r>
                        <a:t>Manual Inspection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9E0B"/>
                          </a:solidFill>
                        </a:defRPr>
                      </a:pPr>
                      <a:r>
                        <a:t>Generic OCR (Tesseract)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LabelLens (Our Solution)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Audit Speed per SKU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10 - 15 Minutes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45 - 60 Seconds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B981"/>
                          </a:solidFill>
                        </a:defRPr>
                      </a:pPr>
                      <a:r>
                        <a:t>&lt; 15 Seconds (Real-time)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Multi-Panel Packaging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Manual mental matching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Fails (Single photo only)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B981"/>
                          </a:solidFill>
                        </a:defRPr>
                      </a:pPr>
                      <a:r>
                        <a:t>Automated Cross-Field Fusion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Glossy / Dark Backgrounds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Prone to human fatigue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High Error Rate (&gt;45% fail)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B981"/>
                          </a:solidFill>
                        </a:defRPr>
                      </a:pPr>
                      <a:r>
                        <a:t>CLAHE + DBNet (97.6% Acc)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Statutory Compliance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Paper checklists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Raw unstructured text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B981"/>
                          </a:solidFill>
                        </a:defRPr>
                      </a:pPr>
                      <a:r>
                        <a:t>Automated Signed PDF Certificate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Hallucination Risk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Human error &amp; bias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B981"/>
                          </a:solidFill>
                        </a:defRPr>
                      </a:pPr>
                      <a:r>
                        <a:t>0% (Deterministic Rule Engine)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★ 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Technology Stack &amp; Security Governance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57800" cy="2057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🎨 Frontend Tier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</a:defRPr>
            </a:pPr>
            <a:r>
              <a:t>• React 19 + TypeScript</a:t>
            </a:r>
            <a:br/>
            <a:r>
              <a:t>• Tailwind CSS + Lucide Icons</a:t>
            </a:r>
            <a:br/>
            <a:r>
              <a:t>• Vite Production Bundle (~102 KB)</a:t>
            </a:r>
            <a:br/>
            <a:r>
              <a:t>• Responsive Mobile Inspector UI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45920"/>
            <a:ext cx="5257800" cy="2057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B82F6"/>
                </a:solidFill>
              </a:defRPr>
            </a:pPr>
            <a:r>
              <a:t>⚙️ Backend API Tier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</a:defRPr>
            </a:pPr>
            <a:r>
              <a:t>• FastAPI (High-performance Async)</a:t>
            </a:r>
            <a:br/>
            <a:r>
              <a:t>• Uvicorn ASGI Server</a:t>
            </a:r>
            <a:br/>
            <a:r>
              <a:t>• ReportLab PDF Generator</a:t>
            </a:r>
            <a:br/>
            <a:r>
              <a:t>• Pydantic v2 Type Safety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57800" cy="2057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🧠 AI &amp; Computer Vision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</a:defRPr>
            </a:pPr>
            <a:r>
              <a:t>• YOLO11 Object Detector</a:t>
            </a:r>
            <a:br/>
            <a:r>
              <a:t>• PaddleOCR 3.x (DBNet + SVTR)</a:t>
            </a:r>
            <a:br/>
            <a:r>
              <a:t>• OpenCV CLAHE &amp; Laplacian QA</a:t>
            </a:r>
            <a:br/>
            <a:r>
              <a:t>• Levenshtein Fuzzy Matching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931920"/>
            <a:ext cx="5257800" cy="2057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🗄️ Database &amp; Security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</a:defRPr>
            </a:pPr>
            <a:r>
              <a:t>• Supabase PostgreSQL</a:t>
            </a:r>
            <a:br/>
            <a:r>
              <a:t>• Row Level Security (RLS)</a:t>
            </a:r>
            <a:br/>
            <a:r>
              <a:t>• JWT Authentication</a:t>
            </a:r>
            <a:br/>
            <a:r>
              <a:t>• Non-repudiable Audit Logs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★ 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Real-World Impact &amp; Future Scalability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🚀 Phase 1: Mobile &amp; Edge</a:t>
            </a:r>
          </a:p>
          <a:p>
            <a:pPr>
              <a:spcBef>
                <a:spcPts val="1600"/>
              </a:spcBef>
              <a:defRPr sz="1150">
                <a:solidFill>
                  <a:srgbClr val="FFFFFF"/>
                </a:solidFill>
              </a:defRPr>
            </a:pPr>
            <a:r>
              <a:t>• On-device camera guidance</a:t>
            </a:r>
            <a:br/>
            <a:r>
              <a:t>• Offline inference for remote markets</a:t>
            </a:r>
            <a:br/>
            <a:r>
              <a:t>• Thermal printer receipt sync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4747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🌐 Phase 2: Multilingual Support</a:t>
            </a:r>
          </a:p>
          <a:p>
            <a:pPr>
              <a:spcBef>
                <a:spcPts val="1600"/>
              </a:spcBef>
              <a:defRPr sz="1150">
                <a:solidFill>
                  <a:srgbClr val="FFFFFF"/>
                </a:solidFill>
              </a:defRPr>
            </a:pPr>
            <a:r>
              <a:t>• OCR for 22 Indian Scheduled Languages</a:t>
            </a:r>
            <a:br/>
            <a:r>
              <a:t>• Regional Legal Metrology rules</a:t>
            </a:r>
            <a:br/>
            <a:r>
              <a:t>• EAN/Barcode catalog auto-sync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645920"/>
            <a:ext cx="34747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📦 Phase 3: E-Commerce Crawler</a:t>
            </a:r>
          </a:p>
          <a:p>
            <a:pPr>
              <a:spcBef>
                <a:spcPts val="1600"/>
              </a:spcBef>
              <a:defRPr sz="1150">
                <a:solidFill>
                  <a:srgbClr val="FFFFFF"/>
                </a:solidFill>
              </a:defRPr>
            </a:pPr>
            <a:r>
              <a:t>• Auto-scan Amazon, Flipkart &amp; Blinkit</a:t>
            </a:r>
            <a:br/>
            <a:r>
              <a:t>• Flag non-compliant online listings</a:t>
            </a:r>
            <a:br/>
            <a:r>
              <a:t>• Automated regulatory violation notices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