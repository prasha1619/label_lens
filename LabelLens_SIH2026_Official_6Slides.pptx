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3A8A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TITLE PAGE: LabelLens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6858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Problem Statement ID – </a:t>
            </a:r>
            <a:r>
              <a:rPr b="0">
                <a:solidFill>
                  <a:srgbClr val="0F172A"/>
                </a:solidFill>
              </a:rPr>
              <a:t>SIH26034</a:t>
            </a:r>
          </a:p>
          <a:p>
            <a:pPr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Problem Statement Title – </a:t>
            </a:r>
            <a:r>
              <a:rPr b="0">
                <a:solidFill>
                  <a:srgbClr val="0F172A"/>
                </a:solidFill>
              </a:rPr>
              <a:t>Software system to check compliance of packaged commodities under the Legal Metrology (Packaged Commodities) Rules, 2011, by scanning product images and labels.</a:t>
            </a:r>
          </a:p>
          <a:p>
            <a:pPr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Theme – </a:t>
            </a:r>
            <a:r>
              <a:rPr b="0">
                <a:solidFill>
                  <a:srgbClr val="0F172A"/>
                </a:solidFill>
              </a:rPr>
              <a:t>Miscellaneous / Smart Governance &amp; Regulatory Enforcement</a:t>
            </a:r>
          </a:p>
          <a:p>
            <a:pPr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PS Category – </a:t>
            </a:r>
            <a:r>
              <a:rPr b="0">
                <a:solidFill>
                  <a:srgbClr val="0F172A"/>
                </a:solidFill>
              </a:rPr>
              <a:t>Software</a:t>
            </a:r>
          </a:p>
          <a:p>
            <a:pPr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Team ID – </a:t>
            </a:r>
            <a:r>
              <a:rPr b="0">
                <a:solidFill>
                  <a:srgbClr val="0F172A"/>
                </a:solidFill>
              </a:rPr>
              <a:t>[Your Registered Team ID]</a:t>
            </a:r>
          </a:p>
          <a:p>
            <a:pPr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Team Name – </a:t>
            </a:r>
            <a:r>
              <a:rPr b="0">
                <a:solidFill>
                  <a:srgbClr val="0F172A"/>
                </a:solidFill>
              </a:rPr>
              <a:t>[Your Registered Team Name]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200400" cy="43891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🛡️ LabelLens Platform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⚡ Automated 7-Point Legal Metrology Rule 2011 Audit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👁️ Computer Vision &amp; YOLO11 Region of Interest Detection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🔤 PaddleOCR Deep Learning Text Recognition (97.6% Acc)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🧩 Multi-Panel Front/Back/Side Cross-Field Fusion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📄 Non-repudiable Signed PDF Compliance Certificate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18872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75569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E3A8A"/>
                </a:solidFill>
              </a:defRPr>
            </a:pPr>
            <a:r>
              <a:t>LabelLens - 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365760"/>
            <a:ext cx="1280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E3A8A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1. Detailed Explanation</a:t>
            </a:r>
          </a:p>
          <a:p>
            <a:pPr>
              <a:spcBef>
                <a:spcPts val="1400"/>
              </a:spcBef>
              <a:defRPr sz="1100">
                <a:solidFill>
                  <a:srgbClr val="0F172A"/>
                </a:solidFill>
              </a:defRPr>
            </a:pPr>
            <a:r>
              <a:t>• Multi-Stage Computer Vision &amp; OCR pipeline designed for physical packaging.</a:t>
            </a:r>
            <a:br/>
            <a:r>
              <a:t>• Automatically extracts MRP, Net Qty, Dates, Manufacturer &amp; Consumer Care.</a:t>
            </a:r>
            <a:br/>
            <a:r>
              <a:t>• Cross-Panel Fusion combines front, back, and side angles into one unified compliance dossier.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2. How it Addresses Problem</a:t>
            </a:r>
          </a:p>
          <a:p>
            <a:pPr>
              <a:spcBef>
                <a:spcPts val="1400"/>
              </a:spcBef>
              <a:defRPr sz="1100">
                <a:solidFill>
                  <a:srgbClr val="0F172A"/>
                </a:solidFill>
              </a:defRPr>
            </a:pPr>
            <a:r>
              <a:t>• Eliminates 15-minute manual inspector checklists with &lt; 15-second AI scans.</a:t>
            </a:r>
            <a:br/>
            <a:r>
              <a:t>• Solves glossy, reflective, and curved packaging errors using OpenCV LAB-CLAHE.</a:t>
            </a:r>
            <a:br/>
            <a:r>
              <a:t>• Provides pixel-accurate bounding box evidence for every declaration.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3. Innovation &amp; Uniqueness</a:t>
            </a:r>
          </a:p>
          <a:p>
            <a:pPr>
              <a:spcBef>
                <a:spcPts val="1400"/>
              </a:spcBef>
              <a:defRPr sz="1100">
                <a:solidFill>
                  <a:srgbClr val="0F172A"/>
                </a:solidFill>
              </a:defRPr>
            </a:pPr>
            <a:r>
              <a:t>• 100% Deterministic Legal Rule Engine (Zero LLM hallucination in legal verdicts).</a:t>
            </a:r>
            <a:br/>
            <a:r>
              <a:t>• Multi-panel evidence aggregation across complex packaging shapes.</a:t>
            </a:r>
            <a:br/>
            <a:r>
              <a:t>• Instant tamper-evident PDF statutory compliance certificate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18872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75569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E3A8A"/>
                </a:solidFill>
              </a:defRPr>
            </a:pPr>
            <a:r>
              <a:t>TECHNICAL APPROACH &amp;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365760"/>
            <a:ext cx="1280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E3A8A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🛠️ Technologies Used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AI / Vision: YOLO11, PaddleOCR 3.x (DBNet+SVTR), OpenCV, PIL</a:t>
            </a:r>
            <a:br/>
            <a:br/>
            <a:r>
              <a:t>• Backend: Python 3.11, FastAPI (Async), Uvicorn, ReportLab</a:t>
            </a:r>
            <a:br/>
            <a:br/>
            <a:r>
              <a:t>• Frontend: React 19, TypeScript, Tailwind CSS, Vite</a:t>
            </a:r>
            <a:br/>
            <a:br/>
            <a:r>
              <a:t>• Database: PostgreSQL (Supabase) with Row-Level Security (RLS)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2240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Step 1: Camera Capture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Multi-panel packaging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645920"/>
            <a:ext cx="2240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Step 2: OpenCV QA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Laplacian blur check + CLAHE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59" y="1645920"/>
            <a:ext cx="2240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Step 3: YOLO11 Detection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Identifies declaration ROI boxes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931920"/>
            <a:ext cx="2240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Step 4: Neural OCR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PaddleOCR text line extraction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931920"/>
            <a:ext cx="2240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Step 5: Rule Engine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Evaluates Legal Metrology 2011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3931920"/>
            <a:ext cx="2240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Step 6: Audit Dossier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Signed PDF &amp; Supabase DB record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18872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75569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E3A8A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365760"/>
            <a:ext cx="1280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E3A8A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EA5E9"/>
                </a:solidFill>
              </a:defRPr>
            </a:pPr>
            <a:r>
              <a:t>1. Feasibility Analysis</a:t>
            </a:r>
          </a:p>
          <a:p>
            <a:pPr>
              <a:spcBef>
                <a:spcPts val="1200"/>
              </a:spcBef>
              <a:defRPr sz="1050">
                <a:solidFill>
                  <a:srgbClr val="0F172A"/>
                </a:solidFill>
              </a:defRPr>
            </a:pPr>
            <a:r>
              <a:t>• Technical Feasibility: Built entirely with open-weights models (YOLO11 + PaddleOCR) running efficiently on standard commodity CPU/GPU hardware.</a:t>
            </a:r>
            <a:br/>
            <a:br/>
            <a:r>
              <a:t>• Economic Feasibility: Zero per-scan API fees. Free cloud hosting on PostgreSQL (Supabase) + edge client inference.</a:t>
            </a:r>
            <a:br/>
            <a:br/>
            <a:r>
              <a:t>• Operational Feasibility: Ready for deployment on field officers' existing smartphones &amp; web tablets.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EF4444"/>
                </a:solidFill>
              </a:defRPr>
            </a:pPr>
            <a:r>
              <a:t>2. Potential Challenges &amp; Risks</a:t>
            </a:r>
          </a:p>
          <a:p>
            <a:pPr>
              <a:spcBef>
                <a:spcPts val="1200"/>
              </a:spcBef>
              <a:defRPr sz="1050">
                <a:solidFill>
                  <a:srgbClr val="0F172A"/>
                </a:solidFill>
              </a:defRPr>
            </a:pPr>
            <a:r>
              <a:t>• Low-light, blurred photos in crowded market inspections.</a:t>
            </a:r>
            <a:br/>
            <a:r>
              <a:t>• Glossy &amp; reflective packaging (bottles, metallic pouches).</a:t>
            </a:r>
            <a:br/>
            <a:r>
              <a:t>• Non-standard date formats (e.g. 'Use within 12M of Pkd').</a:t>
            </a:r>
            <a:br/>
            <a:r>
              <a:t>• Missing declarations spread across multiple packaging sides.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0B981"/>
                </a:solidFill>
              </a:defRPr>
            </a:pPr>
            <a:r>
              <a:t>3. Strategies to Overcome</a:t>
            </a:r>
          </a:p>
          <a:p>
            <a:pPr>
              <a:spcBef>
                <a:spcPts val="1200"/>
              </a:spcBef>
              <a:defRPr sz="1050">
                <a:solidFill>
                  <a:srgbClr val="0F172A"/>
                </a:solidFill>
              </a:defRPr>
            </a:pPr>
            <a:r>
              <a:t>• Real-time Laplacian Blur Validator prompts instant re-capture.</a:t>
            </a:r>
            <a:br/>
            <a:r>
              <a:t>• LAB-CLAHE illumination normalization removes glare.</a:t>
            </a:r>
            <a:br/>
            <a:r>
              <a:t>• Fuzzy Levenshtein regex tokenizers handle diverse syntax.</a:t>
            </a:r>
            <a:br/>
            <a:r>
              <a:t>• Multi-Panel Cross-Field Fusion Engine aggregates all panels.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18872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75569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E3A8A"/>
                </a:solidFill>
              </a:defRPr>
            </a:pPr>
            <a:r>
              <a:t>IMPACT AND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365760"/>
            <a:ext cx="1280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E3A8A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🎯 Target Audience Impact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</a:defRPr>
            </a:pPr>
            <a:r>
              <a:t>• Legal Metrology Enforcement Officers: Increases inspection throughput by 50x; eliminates manual paperwork.</a:t>
            </a:r>
            <a:br/>
            <a:br/>
            <a:r>
              <a:t>• Brand Owners &amp; FMCG Manufacturers: Pre-market packaging validation prevents regulatory seizures &amp; penalties.</a:t>
            </a:r>
            <a:br/>
            <a:br/>
            <a:r>
              <a:t>• Indian Consumers: Protects against underweight fraud, illegal MRP markups, and obscured expiration 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💰 Economic &amp; Governance Benefits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</a:defRPr>
            </a:pPr>
            <a:r>
              <a:t>• Prevents Revenue Leakage: Catches misdeclared tax/MRP and unauthorized surcharges.</a:t>
            </a:r>
            <a:br/>
            <a:br/>
            <a:r>
              <a:t>• 100% Deterministic Compliance: Zero corruption or subjective human bias in statutory audit reports.</a:t>
            </a:r>
            <a:br/>
            <a:br/>
            <a:r>
              <a:t>• Non-Repudiable Evidence: Bounding box visual proofs attached to downloadable PDF legal notices.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🌱 Social &amp; Environmental Benefits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</a:defRPr>
            </a:pPr>
            <a:r>
              <a:t>• 100% Paperless Audits: Replaces physical ledger record-keeping with encrypted cloud records.</a:t>
            </a:r>
            <a:br/>
            <a:br/>
            <a:r>
              <a:t>• Consumer Empowerment: Ensures clear allergen and mandatory dietary declarations (Veg/Non-Veg logos).</a:t>
            </a:r>
            <a:br/>
            <a:br/>
            <a:r>
              <a:t>• Scalable Nationwide: Deployable across rural district offices and mega-retail hubs alike.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18872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75569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E3A8A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365760"/>
            <a:ext cx="1280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E3A8A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📜 Legal &amp; Statutory References</a:t>
            </a:r>
          </a:p>
          <a:p>
            <a:pPr>
              <a:spcBef>
                <a:spcPts val="1200"/>
              </a:spcBef>
              <a:defRPr sz="980">
                <a:solidFill>
                  <a:srgbClr val="0F172A"/>
                </a:solidFill>
              </a:defRPr>
            </a:pPr>
            <a:r>
              <a:t>1. Legal Metrology Act, 2009 (Act No. 1 of 2010), Ministry of Consumer Affairs, Food &amp; Public Distribution, Govt of India.</a:t>
            </a:r>
            <a:br/>
            <a:br/>
            <a:r>
              <a:t>2. Legal Metrology (Packaged Commodities) Rules, 2011 — Rules 6, 9, 11, 18 &amp; 24 (Mandatory Declarations on Pre-Packaged Goods).</a:t>
            </a:r>
            <a:br/>
            <a:br/>
            <a:r>
              <a:t>3. Department of Consumer Affairs E-Commerce Guidelines (2020 Amendment for Digital Packaging Compliance).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🔬 Computer Vision &amp; AI Research</a:t>
            </a:r>
          </a:p>
          <a:p>
            <a:pPr>
              <a:spcBef>
                <a:spcPts val="1200"/>
              </a:spcBef>
              <a:defRPr sz="980">
                <a:solidFill>
                  <a:srgbClr val="0F172A"/>
                </a:solidFill>
              </a:defRPr>
            </a:pPr>
            <a:r>
              <a:t>1. Ultralytics YOLO11: Real-Time Object Detection and Segmentation for Document Region Localization (2024).</a:t>
            </a:r>
            <a:br/>
            <a:br/>
            <a:r>
              <a:t>2. PaddleOCR 3.x / PaddleX: DBNet (Real-time Scene Text Detection with Differentiable Binarization) &amp; SVTR (Scene Text Recognition Transformer).</a:t>
            </a:r>
            <a:br/>
            <a:br/>
            <a:r>
              <a:t>3. OpenCV: Laplacian Variance for Fast Blur Detection &amp; Contrast Limited Adaptive Histogram Equalization (CLAHE).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🌐 Project Repository &amp; Live Demo</a:t>
            </a:r>
          </a:p>
          <a:p>
            <a:pPr>
              <a:spcBef>
                <a:spcPts val="1200"/>
              </a:spcBef>
              <a:defRPr sz="980">
                <a:solidFill>
                  <a:srgbClr val="0F172A"/>
                </a:solidFill>
              </a:defRPr>
            </a:pPr>
            <a:r>
              <a:t>• GitHub Repository: github.com/prasha1619/Label_Lens</a:t>
            </a:r>
            <a:br/>
            <a:br/>
            <a:r>
              <a:t>• Backend API Docs: Interactive Swagger UI (/docs) &amp; ReDoc (/redoc)</a:t>
            </a:r>
            <a:br/>
            <a:br/>
            <a:r>
              <a:t>• Production Build: React 19 Client + FastAPI High-Throughput Inference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